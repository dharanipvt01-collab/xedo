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731520"/>
            <a:ext cx="1828800" cy="18288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1828800"/>
            <a:ext cx="1188720" cy="11887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926080"/>
            <a:ext cx="914400" cy="914400"/>
          </a:xfrm>
          <a:prstGeom prst="ellipse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0" y="3657600"/>
            <a:ext cx="685800" cy="6858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4663440"/>
            <a:ext cx="1143000" cy="11430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20" y="1417320"/>
            <a:ext cx="292608" cy="29260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746504"/>
            <a:ext cx="9601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9" name="Oval 8"/>
          <p:cNvSpPr/>
          <p:nvPr/>
        </p:nvSpPr>
        <p:spPr>
          <a:xfrm>
            <a:off x="9829800" y="2240280"/>
            <a:ext cx="292608" cy="29260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0" y="2569464"/>
            <a:ext cx="9601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URL</a:t>
            </a:r>
          </a:p>
        </p:txBody>
      </p:sp>
      <p:sp>
        <p:nvSpPr>
          <p:cNvPr id="11" name="Oval 10"/>
          <p:cNvSpPr/>
          <p:nvPr/>
        </p:nvSpPr>
        <p:spPr>
          <a:xfrm>
            <a:off x="8001000" y="3200400"/>
            <a:ext cx="292608" cy="29260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3529584"/>
            <a:ext cx="9601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MESSAGE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0" y="4251960"/>
            <a:ext cx="292608" cy="29260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4581144"/>
            <a:ext cx="9601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713232"/>
            <a:ext cx="6217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0EA5E9"/>
                </a:solidFill>
                <a:latin typeface="Aptos"/>
              </a:defRPr>
            </a:pPr>
            <a:r>
              <a:t>DIGITAL RISK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353312"/>
            <a:ext cx="6858000" cy="9144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4200" b="1" i="0">
                <a:solidFill>
                  <a:srgbClr val="FFFFFF"/>
                </a:solidFill>
                <a:latin typeface="Aptos"/>
              </a:defRPr>
            </a:pPr>
            <a:r>
              <a:t>XEDO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331720"/>
            <a:ext cx="6400800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t>Digital Risk Protection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182112"/>
            <a:ext cx="6126480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BFDBFE"/>
                </a:solidFill>
                <a:latin typeface="Aptos"/>
              </a:defRPr>
            </a:pPr>
            <a:r>
              <a:t>Detect. Connect. Predict. Protect.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51960"/>
            <a:ext cx="5669280" cy="10058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E2E8F0"/>
                </a:solidFill>
                <a:latin typeface="Aptos"/>
              </a:defRPr>
            </a:pPr>
            <a:r>
              <a:t>An AI-powered approach to identifying suspicious digital identities, connecting threat signals, explaining risk, and guiding safer 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760720"/>
            <a:ext cx="1645920" cy="310896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5801868"/>
            <a:ext cx="1536192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BFDBFE"/>
                </a:solidFill>
                <a:latin typeface="Aptos"/>
              </a:defRPr>
            </a:pPr>
            <a:r>
              <a:t>AI-POWERED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06040" y="5760720"/>
            <a:ext cx="1645920" cy="310896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60904" y="5801868"/>
            <a:ext cx="1536192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C4B5FD"/>
                </a:solidFill>
                <a:latin typeface="Aptos"/>
              </a:defRPr>
            </a:pPr>
            <a:r>
              <a:t>EXPLAINABLE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5760720"/>
            <a:ext cx="1645920" cy="310896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43983" y="5801868"/>
            <a:ext cx="1536192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7DD3FC"/>
                </a:solidFill>
                <a:latin typeface="Aptos"/>
              </a:defRPr>
            </a:pPr>
            <a:r>
              <a:t>USER-CENTRIC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CBD5E1"/>
                </a:solidFill>
                <a:latin typeface="Aptos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F172A"/>
                </a:solidFill>
                <a:latin typeface="Aptos"/>
              </a:defRPr>
            </a:pPr>
            <a:r>
              <a:t>The Digital Risk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97280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64748B"/>
                </a:solidFill>
                <a:latin typeface="Aptos"/>
              </a:defRPr>
            </a:pPr>
            <a:r>
              <a:t>Threats rarely arrive through one channel — they spread across identities, links, messages, and apps.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07592"/>
            <a:ext cx="62179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4748B"/>
                </a:solidFill>
                <a:latin typeface="Aptos"/>
              </a:defRPr>
            </a:pPr>
            <a:r>
              <a:t>02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27432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4592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10512"/>
            <a:ext cx="239572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F172A"/>
                </a:solidFill>
                <a:latin typeface="Aptos"/>
              </a:defRPr>
            </a:pPr>
            <a:r>
              <a:t>Impersonation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212848"/>
            <a:ext cx="2395728" cy="72237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475569"/>
                </a:solidFill>
                <a:latin typeface="Aptos"/>
              </a:defRPr>
            </a:pPr>
            <a:r>
              <a:t>Lookalike social profiles and fake customer-support accounts.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45920"/>
            <a:ext cx="27432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64592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810512"/>
            <a:ext cx="239572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F172A"/>
                </a:solidFill>
                <a:latin typeface="Aptos"/>
              </a:defRPr>
            </a:pPr>
            <a:r>
              <a:t>Phishing &amp; scams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212848"/>
            <a:ext cx="2395728" cy="72237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475569"/>
                </a:solidFill>
                <a:latin typeface="Aptos"/>
              </a:defRPr>
            </a:pPr>
            <a:r>
              <a:t>Suspicious URLs, urgent messages, and credential traps.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645920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64592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1810512"/>
            <a:ext cx="207568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F172A"/>
                </a:solidFill>
                <a:latin typeface="Aptos"/>
              </a:defRPr>
            </a:pPr>
            <a:r>
              <a:t>Risky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212848"/>
            <a:ext cx="2075688" cy="72237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475569"/>
                </a:solidFill>
                <a:latin typeface="Aptos"/>
              </a:defRPr>
            </a:pPr>
            <a:r>
              <a:t>Apps with unusual permissions or misleading identities.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645920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164592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1810512"/>
            <a:ext cx="216712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F172A"/>
                </a:solidFill>
                <a:latin typeface="Aptos"/>
              </a:defRPr>
            </a:pPr>
            <a:r>
              <a:t>Identity exposure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212848"/>
            <a:ext cx="2167128" cy="72237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475569"/>
                </a:solidFill>
                <a:latin typeface="Aptos"/>
              </a:defRPr>
            </a:pPr>
            <a:r>
              <a:t>Personal or brand information reused across platforms.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20440"/>
            <a:ext cx="365760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0F172A"/>
                </a:solidFill>
                <a:latin typeface="Aptos"/>
              </a:defRPr>
            </a:pPr>
            <a:r>
              <a:t>Why traditional checks miss the bigger picture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5074920" cy="1645920"/>
          </a:xfrm>
          <a:prstGeom prst="rect">
            <a:avLst/>
          </a:prstGeom>
          <a:noFill/>
        </p:spPr>
        <p:txBody>
          <a:bodyPr wrap="none" lIns="36576" rIns="27432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•  Each indicator may look harmless in isolation.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•  Manual checking is slow and difficult to scale.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•  Evidence is scattered across screenshots, links, and reports.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520440"/>
            <a:ext cx="5303520" cy="20574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767328"/>
            <a:ext cx="475488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563EB"/>
                </a:solidFill>
                <a:latin typeface="Aptos"/>
              </a:defRPr>
            </a:pPr>
            <a:r>
              <a:t>THE CORE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206240"/>
            <a:ext cx="4663440" cy="9144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200" b="1" i="0">
                <a:solidFill>
                  <a:srgbClr val="0F172A"/>
                </a:solidFill>
                <a:latin typeface="Aptos"/>
              </a:defRPr>
            </a:pPr>
            <a:r>
              <a:t>Turn scattered warning signs into a clear, evidence-led view of digital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F172A"/>
                </a:solidFill>
                <a:latin typeface="Aptos"/>
              </a:defRPr>
            </a:pPr>
            <a:r>
              <a:t>Introducing XEDO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97280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64748B"/>
                </a:solidFill>
                <a:latin typeface="Aptos"/>
              </a:defRPr>
            </a:pPr>
            <a:r>
              <a:t>One intelligence workflow for detection, investigation, and safer next steps.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07592"/>
            <a:ext cx="62179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4748B"/>
                </a:solidFill>
                <a:latin typeface="Aptos"/>
              </a:defRPr>
            </a:pPr>
            <a:r>
              <a:t>03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5603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2194560"/>
            <a:ext cx="50292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304288"/>
            <a:ext cx="50292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80360"/>
            <a:ext cx="21031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0F172A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310128"/>
            <a:ext cx="2121408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20" b="0" i="0">
                <a:solidFill>
                  <a:srgbClr val="475569"/>
                </a:solidFill>
                <a:latin typeface="Aptos"/>
              </a:defRPr>
            </a:pPr>
            <a:r>
              <a:t>Analyze profiles, URLs, messages, apps, emails, and usernames.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7" y="2788920"/>
            <a:ext cx="292608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2400" b="1" i="0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965960"/>
            <a:ext cx="25603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21607" y="2194560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7" y="2304288"/>
            <a:ext cx="50292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7" y="2880360"/>
            <a:ext cx="21031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0F172A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7" y="3310128"/>
            <a:ext cx="2121408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20" b="0" i="0">
                <a:solidFill>
                  <a:srgbClr val="475569"/>
                </a:solidFill>
                <a:latin typeface="Aptos"/>
              </a:defRPr>
            </a:pPr>
            <a:r>
              <a:t>Link related indicators using similarity and shared signals.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2788920"/>
            <a:ext cx="292608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2400" b="1" i="0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65960"/>
            <a:ext cx="25603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01968" y="2194560"/>
            <a:ext cx="502920" cy="502920"/>
          </a:xfrm>
          <a:prstGeom prst="ellipse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2304288"/>
            <a:ext cx="50292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2880360"/>
            <a:ext cx="21031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0F172A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310128"/>
            <a:ext cx="2121408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20" b="0" i="0">
                <a:solidFill>
                  <a:srgbClr val="475569"/>
                </a:solidFill>
                <a:latin typeface="Aptos"/>
              </a:defRPr>
            </a:pPr>
            <a:r>
              <a:t>Show risk score, confidence, observed evidence, and rationale.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2788920"/>
            <a:ext cx="292608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2400" b="1" i="0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59" y="1965960"/>
            <a:ext cx="25603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82328" y="2194560"/>
            <a:ext cx="502920" cy="50292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82328" y="2304288"/>
            <a:ext cx="50292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328" y="2880360"/>
            <a:ext cx="21031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0F172A"/>
                </a:solidFill>
                <a:latin typeface="Aptos"/>
              </a:defRPr>
            </a:pPr>
            <a:r>
              <a:t>PROTECT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3310128"/>
            <a:ext cx="2121408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20" b="0" i="0">
                <a:solidFill>
                  <a:srgbClr val="475569"/>
                </a:solidFill>
                <a:latin typeface="Aptos"/>
              </a:defRPr>
            </a:pPr>
            <a:r>
              <a:t>Preserve evidence and guide users toward appropriate action.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00600"/>
            <a:ext cx="10698480" cy="86868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12700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010912"/>
            <a:ext cx="1014984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800" b="1" i="0">
                <a:solidFill>
                  <a:srgbClr val="7C3AED"/>
                </a:solidFill>
                <a:latin typeface="Aptos"/>
              </a:defRPr>
            </a:pPr>
            <a:r>
              <a:t>From suspicion → evidence → connected intelligence → recommended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F172A"/>
                </a:solidFill>
                <a:latin typeface="Aptos"/>
              </a:defRPr>
            </a:pPr>
            <a:r>
              <a:t>Analyze More Than a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97280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64748B"/>
                </a:solidFill>
                <a:latin typeface="Aptos"/>
              </a:defRPr>
            </a:pPr>
            <a:r>
              <a:t>A universal analyzer helps users inspect different digital indicators from one place.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07592"/>
            <a:ext cx="62179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4748B"/>
                </a:solidFill>
                <a:latin typeface="Aptos"/>
              </a:defRPr>
            </a:pPr>
            <a:r>
              <a:t>04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308152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0F172A"/>
                </a:solidFill>
                <a:latin typeface="Aptos"/>
              </a:defRPr>
            </a:pPr>
            <a:r>
              <a:t>Social 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04288"/>
            <a:ext cx="3081528" cy="72237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20" b="0" i="0">
                <a:solidFill>
                  <a:srgbClr val="475569"/>
                </a:solidFill>
                <a:latin typeface="Aptos"/>
              </a:defRPr>
            </a:pPr>
            <a:r>
              <a:t>Impersonation &amp; lookalike identities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3736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73736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901952"/>
            <a:ext cx="308152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0F172A"/>
                </a:solidFill>
                <a:latin typeface="Aptos"/>
              </a:defRPr>
            </a:pPr>
            <a:r>
              <a:t>Websites / URLs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04288"/>
            <a:ext cx="3081528" cy="72237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20" b="0" i="0">
                <a:solidFill>
                  <a:srgbClr val="475569"/>
                </a:solidFill>
                <a:latin typeface="Aptos"/>
              </a:defRPr>
            </a:pPr>
            <a:r>
              <a:t>Domain similarity &amp; suspicious destinations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73736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73736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901952"/>
            <a:ext cx="308152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0F172A"/>
                </a:solidFill>
                <a:latin typeface="Aptos"/>
              </a:defRPr>
            </a:pPr>
            <a:r>
              <a:t>Scam messages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304288"/>
            <a:ext cx="3081528" cy="72237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20" b="0" i="0">
                <a:solidFill>
                  <a:srgbClr val="475569"/>
                </a:solidFill>
                <a:latin typeface="Aptos"/>
              </a:defRPr>
            </a:pPr>
            <a:r>
              <a:t>Urgency, suspicious requests &amp; link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6616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56616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730752"/>
            <a:ext cx="308152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0F172A"/>
                </a:solidFill>
                <a:latin typeface="Aptos"/>
              </a:defRPr>
            </a:pPr>
            <a:r>
              <a:t>Mobile apps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133087"/>
            <a:ext cx="3081528" cy="72237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20" b="0" i="0">
                <a:solidFill>
                  <a:srgbClr val="475569"/>
                </a:solidFill>
                <a:latin typeface="Aptos"/>
              </a:defRPr>
            </a:pPr>
            <a:r>
              <a:t>App identity, permissions &amp; metadata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56616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566160"/>
            <a:ext cx="73152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3730752"/>
            <a:ext cx="308152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0F172A"/>
                </a:solidFill>
                <a:latin typeface="Aptos"/>
              </a:defRPr>
            </a:pPr>
            <a:r>
              <a:t>Email &amp; phone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133087"/>
            <a:ext cx="3081528" cy="72237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20" b="0" i="0">
                <a:solidFill>
                  <a:srgbClr val="475569"/>
                </a:solidFill>
                <a:latin typeface="Aptos"/>
              </a:defRPr>
            </a:pPr>
            <a:r>
              <a:t>Sender details and identity signals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56616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56616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3730752"/>
            <a:ext cx="308152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0F172A"/>
                </a:solidFill>
                <a:latin typeface="Aptos"/>
              </a:defRPr>
            </a:pPr>
            <a:r>
              <a:t>Usernames &amp; brands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133087"/>
            <a:ext cx="3081528" cy="72237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20" b="0" i="0">
                <a:solidFill>
                  <a:srgbClr val="475569"/>
                </a:solidFill>
                <a:latin typeface="Aptos"/>
              </a:defRPr>
            </a:pPr>
            <a:r>
              <a:t>Naming patterns and identity consistency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15000"/>
            <a:ext cx="10698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50" b="0" i="1">
                <a:solidFill>
                  <a:srgbClr val="64748B"/>
                </a:solidFill>
                <a:latin typeface="Aptos"/>
              </a:defRPr>
            </a:pPr>
            <a:r>
              <a:t>Important: analysis depth depends on available data sources; unavailable live scans must be clearly labelled as demo or rule-based.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F172A"/>
                </a:solidFill>
                <a:latin typeface="Aptos"/>
              </a:defRPr>
            </a:pPr>
            <a:r>
              <a:t>Inside the AI Risk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97280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64748B"/>
                </a:solidFill>
                <a:latin typeface="Aptos"/>
              </a:defRPr>
            </a:pPr>
            <a:r>
              <a:t>A layered design balances measurable rules, pattern matching, machine learning, and clear explanations.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07592"/>
            <a:ext cx="62179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4748B"/>
                </a:solidFill>
                <a:latin typeface="Aptos"/>
              </a:defRPr>
            </a:pPr>
            <a:r>
              <a:t>05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600200"/>
            <a:ext cx="58521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0240" y="1600200"/>
            <a:ext cx="10972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76272" y="1664208"/>
            <a:ext cx="18288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563E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664208"/>
            <a:ext cx="356616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475569"/>
                </a:solidFill>
                <a:latin typeface="Aptos"/>
              </a:defRPr>
            </a:pPr>
            <a:r>
              <a:t>Profile • URL • Message •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682496"/>
            <a:ext cx="3200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700" b="1" i="0">
                <a:solidFill>
                  <a:srgbClr val="2563EB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2295144"/>
            <a:ext cx="58521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20240" y="2295144"/>
            <a:ext cx="109728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76272" y="2359151"/>
            <a:ext cx="18288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7C3AED"/>
                </a:solidFill>
                <a:latin typeface="Aptos"/>
              </a:defRPr>
            </a:pPr>
            <a:r>
              <a:t>SIGNAL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1"/>
            <a:ext cx="356616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475569"/>
                </a:solidFill>
                <a:latin typeface="Aptos"/>
              </a:defRPr>
            </a:pPr>
            <a:r>
              <a:t>Normalize text, domains, metadata, and indicators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377439"/>
            <a:ext cx="3200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700" b="1" i="0">
                <a:solidFill>
                  <a:srgbClr val="2563EB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2990088"/>
            <a:ext cx="58521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20240" y="2990088"/>
            <a:ext cx="109728" cy="5303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76272" y="3054096"/>
            <a:ext cx="18288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EA5E9"/>
                </a:solidFill>
                <a:latin typeface="Aptos"/>
              </a:defRPr>
            </a:pPr>
            <a:r>
              <a:t>RULES + SIMILARITY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054096"/>
            <a:ext cx="356616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475569"/>
                </a:solidFill>
                <a:latin typeface="Aptos"/>
              </a:defRPr>
            </a:pPr>
            <a:r>
              <a:t>Detect known patterns and compare identity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072384"/>
            <a:ext cx="3200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700" b="1" i="0">
                <a:solidFill>
                  <a:srgbClr val="2563EB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3685032"/>
            <a:ext cx="58521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20240" y="3685032"/>
            <a:ext cx="10972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76272" y="3749040"/>
            <a:ext cx="18288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F59E0B"/>
                </a:solidFill>
                <a:latin typeface="Aptos"/>
              </a:defRPr>
            </a:pPr>
            <a:r>
              <a:t>ML + CORRELATION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749040"/>
            <a:ext cx="356616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475569"/>
                </a:solidFill>
                <a:latin typeface="Aptos"/>
              </a:defRPr>
            </a:pPr>
            <a:r>
              <a:t>Classify indicators and connect related entities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3767328"/>
            <a:ext cx="3200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700" b="1" i="0">
                <a:solidFill>
                  <a:srgbClr val="2563EB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4379976"/>
            <a:ext cx="58521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0240" y="4379976"/>
            <a:ext cx="109728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76272" y="4443984"/>
            <a:ext cx="18288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6A34A"/>
                </a:solidFill>
                <a:latin typeface="Aptos"/>
              </a:defRPr>
            </a:pPr>
            <a:r>
              <a:t>RISK + EXPLANATION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443984"/>
            <a:ext cx="356616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475569"/>
                </a:solidFill>
                <a:latin typeface="Aptos"/>
              </a:defRPr>
            </a:pPr>
            <a:r>
              <a:t>Score observed signals; summarize why they matter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4462272"/>
            <a:ext cx="3200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700" b="1" i="0">
                <a:solidFill>
                  <a:srgbClr val="2563EB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20240" y="5074920"/>
            <a:ext cx="58521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20240" y="5074920"/>
            <a:ext cx="10972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76272" y="5138928"/>
            <a:ext cx="18288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563EB"/>
                </a:solidFill>
                <a:latin typeface="Aptos"/>
              </a:defRPr>
            </a:pPr>
            <a:r>
              <a:t>RECOMMENDED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5138928"/>
            <a:ext cx="356616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475569"/>
                </a:solidFill>
                <a:latin typeface="Aptos"/>
              </a:defRPr>
            </a:pPr>
            <a:r>
              <a:t>Guide evidence preservation and next steps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49640" y="2011680"/>
            <a:ext cx="2788920" cy="2194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23960" y="2286000"/>
            <a:ext cx="224028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2563EB"/>
                </a:solidFill>
                <a:latin typeface="Aptos"/>
              </a:defRPr>
            </a:pPr>
            <a:r>
              <a:t>TRUST PRINCIPLE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2743200"/>
            <a:ext cx="2194560" cy="10515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0F172A"/>
                </a:solidFill>
                <a:latin typeface="Aptos"/>
              </a:defRPr>
            </a:pPr>
            <a:r>
              <a:t>AI explains observed evidence — it must not invent facts or make unsupported accusations.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5989320"/>
            <a:ext cx="89611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50" b="0" i="1">
                <a:solidFill>
                  <a:srgbClr val="64748B"/>
                </a:solidFill>
                <a:latin typeface="Aptos"/>
              </a:defRPr>
            </a:pPr>
            <a:r>
              <a:t>Fallback: if an AI provider is unavailable, use clearly labelled deterministic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F172A"/>
                </a:solidFill>
                <a:latin typeface="Aptos"/>
              </a:defRPr>
            </a:pPr>
            <a:r>
              <a:t>Explainable Risk — Not a Black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97280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64748B"/>
                </a:solidFill>
                <a:latin typeface="Aptos"/>
              </a:defRPr>
            </a:pPr>
            <a:r>
              <a:t>Every assessment should communicate score, confidence, evidence, and what to do next.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07592"/>
            <a:ext cx="62179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4748B"/>
                </a:solidFill>
                <a:latin typeface="Aptos"/>
              </a:defRPr>
            </a:pPr>
            <a:r>
              <a:t>06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97180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3774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64748B"/>
                </a:solidFill>
                <a:latin typeface="Aptos"/>
              </a:defRPr>
            </a:pPr>
            <a:r>
              <a:t>EXAMPLE RISK SCORE</a:t>
            </a:r>
          </a:p>
        </p:txBody>
      </p:sp>
      <p:sp>
        <p:nvSpPr>
          <p:cNvPr id="8" name="Oval 7"/>
          <p:cNvSpPr/>
          <p:nvPr/>
        </p:nvSpPr>
        <p:spPr>
          <a:xfrm>
            <a:off x="1325880" y="2514600"/>
            <a:ext cx="1645920" cy="1645920"/>
          </a:xfrm>
          <a:prstGeom prst="ellipse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36192" y="2724912"/>
            <a:ext cx="1225296" cy="122529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2768" y="3035808"/>
            <a:ext cx="1143000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2400" b="1" i="0">
                <a:solidFill>
                  <a:srgbClr val="DC2626"/>
                </a:solidFill>
                <a:latin typeface="Aptos"/>
              </a:defRPr>
            </a:pPr>
            <a:r>
              <a:t>91/100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434840"/>
            <a:ext cx="228600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DC2626"/>
                </a:solidFill>
                <a:latin typeface="Aptos"/>
              </a:defRPr>
            </a:pPr>
            <a:r>
              <a:t>HIGH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00600"/>
            <a:ext cx="242316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64748B"/>
                </a:solidFill>
                <a:latin typeface="Aptos"/>
              </a:defRPr>
            </a:pPr>
            <a:r>
              <a:t>Illustrative demo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783080"/>
            <a:ext cx="28346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0F172A"/>
                </a:solidFill>
                <a:latin typeface="Aptos"/>
              </a:defRPr>
            </a:pPr>
            <a:r>
              <a:t>Signal breakdown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331720"/>
            <a:ext cx="19202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475569"/>
                </a:solidFill>
                <a:latin typeface="Aptos"/>
              </a:defRPr>
            </a:pPr>
            <a:r>
              <a:t>Brand similarity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2350008"/>
            <a:ext cx="237744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2350008"/>
            <a:ext cx="2234793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304288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1100" b="1" i="0">
                <a:solidFill>
                  <a:srgbClr val="0F172A"/>
                </a:solidFill>
                <a:latin typeface="Aptos"/>
              </a:defRPr>
            </a:pPr>
            <a:r>
              <a:t>94%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898648"/>
            <a:ext cx="19202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475569"/>
                </a:solidFill>
                <a:latin typeface="Aptos"/>
              </a:defRPr>
            </a:pPr>
            <a:r>
              <a:t>Username similarity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916936"/>
            <a:ext cx="237744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2916936"/>
            <a:ext cx="2115921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2871216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1100" b="1" i="0">
                <a:solidFill>
                  <a:srgbClr val="0F172A"/>
                </a:solidFill>
                <a:latin typeface="Aptos"/>
              </a:defRPr>
            </a:pPr>
            <a:r>
              <a:t>89%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465576"/>
            <a:ext cx="19202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475569"/>
                </a:solidFill>
                <a:latin typeface="Aptos"/>
              </a:defRPr>
            </a:pPr>
            <a:r>
              <a:t>URL similarity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3483864"/>
            <a:ext cx="237744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3483864"/>
            <a:ext cx="228234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3438144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1100" b="1" i="0">
                <a:solidFill>
                  <a:srgbClr val="0F172A"/>
                </a:solidFill>
                <a:latin typeface="Aptos"/>
              </a:defRPr>
            </a:pPr>
            <a:r>
              <a:t>96%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4032504"/>
            <a:ext cx="19202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475569"/>
                </a:solidFill>
                <a:latin typeface="Aptos"/>
              </a:defRPr>
            </a:pPr>
            <a:r>
              <a:t>Content risk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4050791"/>
            <a:ext cx="237744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60" y="4050791"/>
            <a:ext cx="194950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40050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1100" b="1" i="0">
                <a:solidFill>
                  <a:srgbClr val="0F172A"/>
                </a:solidFill>
                <a:latin typeface="Aptos"/>
              </a:defRPr>
            </a:pPr>
            <a:r>
              <a:t>82%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4599431"/>
            <a:ext cx="19202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475569"/>
                </a:solidFill>
                <a:latin typeface="Aptos"/>
              </a:defRPr>
            </a:pPr>
            <a:r>
              <a:t>Identity signals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4617719"/>
            <a:ext cx="237744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80760" y="4617719"/>
            <a:ext cx="216347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4571999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1100" b="1" i="0">
                <a:solidFill>
                  <a:srgbClr val="0F172A"/>
                </a:solidFill>
                <a:latin typeface="Aptos"/>
              </a:defRPr>
            </a:pPr>
            <a:r>
              <a:t>91%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1828800"/>
            <a:ext cx="2331720" cy="306324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2700"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2084831"/>
            <a:ext cx="182880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6A34A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2578608"/>
            <a:ext cx="1828800" cy="1325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0F172A"/>
                </a:solidFill>
                <a:latin typeface="Aptos"/>
              </a:defRPr>
            </a:pPr>
            <a:r>
              <a:t>Multiple similarities and a suspicious external link may indicate potential impersonation.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114800"/>
            <a:ext cx="1828800" cy="4572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6A34A"/>
                </a:solidFill>
                <a:latin typeface="Aptos"/>
              </a:defRPr>
            </a:pPr>
            <a:r>
              <a:t>Next: verify, preserve, review.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760720"/>
            <a:ext cx="10607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50" b="0" i="1">
                <a:solidFill>
                  <a:srgbClr val="64748B"/>
                </a:solidFill>
                <a:latin typeface="Aptos"/>
              </a:defRPr>
            </a:pPr>
            <a:r>
              <a:t>Scores and thresholds are platform-generated guidance — not official government classifications or proof of wrongdoing.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F172A"/>
                </a:solidFill>
                <a:latin typeface="Aptos"/>
              </a:defRPr>
            </a:pPr>
            <a:r>
              <a:t>What Makes XEDO Different?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97280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64748B"/>
                </a:solidFill>
                <a:latin typeface="Aptos"/>
              </a:defRPr>
            </a:pPr>
            <a:r>
              <a:t>A connected intelligence system — not just another single-purpose scam checker.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07592"/>
            <a:ext cx="62179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4748B"/>
                </a:solidFill>
                <a:latin typeface="Aptos"/>
              </a:defRPr>
            </a:pPr>
            <a:r>
              <a:t>07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73152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56232"/>
            <a:ext cx="491032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0F172A"/>
                </a:solidFill>
                <a:latin typeface="Aptos"/>
              </a:defRPr>
            </a:pPr>
            <a:r>
              <a:t>Digital Identity DNA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58568"/>
            <a:ext cx="4910328" cy="384047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475569"/>
                </a:solidFill>
                <a:latin typeface="Aptos"/>
              </a:defRPr>
            </a:pPr>
            <a:r>
              <a:t>Compare username, domain, logo, language, and support-channel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525780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691640"/>
            <a:ext cx="73152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856232"/>
            <a:ext cx="491032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0F172A"/>
                </a:solidFill>
                <a:latin typeface="Aptos"/>
              </a:defRPr>
            </a:pPr>
            <a:r>
              <a:t>Threat Intelligence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258568"/>
            <a:ext cx="4910328" cy="384047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475569"/>
                </a:solidFill>
                <a:latin typeface="Aptos"/>
              </a:defRPr>
            </a:pPr>
            <a:r>
              <a:t>Visualize relationships among profiles, URLs, messages, apps, and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44952"/>
            <a:ext cx="525780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044952"/>
            <a:ext cx="73152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09544"/>
            <a:ext cx="491032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0F172A"/>
                </a:solidFill>
                <a:latin typeface="Aptos"/>
              </a:defRPr>
            </a:pPr>
            <a:r>
              <a:t>Potential Campaign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611880"/>
            <a:ext cx="4910328" cy="384047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475569"/>
                </a:solidFill>
                <a:latin typeface="Aptos"/>
              </a:defRPr>
            </a:pPr>
            <a:r>
              <a:t>Group entities with shared signals and show confidence with provenance.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044952"/>
            <a:ext cx="525780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044952"/>
            <a:ext cx="73152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3209544"/>
            <a:ext cx="491032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0F172A"/>
                </a:solidFill>
                <a:latin typeface="Aptos"/>
              </a:defRPr>
            </a:pPr>
            <a:r>
              <a:t>AI Threat Forecast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611880"/>
            <a:ext cx="4910328" cy="384047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475569"/>
                </a:solidFill>
                <a:latin typeface="Aptos"/>
              </a:defRPr>
            </a:pPr>
            <a:r>
              <a:t>Surface possible emerging patterns with explicit uncertainty.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98264"/>
            <a:ext cx="525780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398264"/>
            <a:ext cx="73152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562856"/>
            <a:ext cx="491032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0F172A"/>
                </a:solidFill>
                <a:latin typeface="Aptos"/>
              </a:defRPr>
            </a:pPr>
            <a:r>
              <a:t>Autonomous Investigation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965192"/>
            <a:ext cx="4910328" cy="384047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475569"/>
                </a:solidFill>
                <a:latin typeface="Aptos"/>
              </a:defRPr>
            </a:pPr>
            <a:r>
              <a:t>Organize signals, summarize evidence, and prioritize follow-up.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398264"/>
            <a:ext cx="525780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398264"/>
            <a:ext cx="73152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4562856"/>
            <a:ext cx="491032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0F172A"/>
                </a:solidFill>
                <a:latin typeface="Aptos"/>
              </a:defRPr>
            </a:pPr>
            <a:r>
              <a:t>AI Investigation Copilot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4965192"/>
            <a:ext cx="4910328" cy="384047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475569"/>
                </a:solidFill>
                <a:latin typeface="Aptos"/>
              </a:defRPr>
            </a:pPr>
            <a:r>
              <a:t>Ask questions, summarize a case, and prepare structured reports.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897880"/>
            <a:ext cx="10515600" cy="41148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12700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989320"/>
            <a:ext cx="102412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7C3AED"/>
                </a:solidFill>
                <a:latin typeface="Aptos"/>
              </a:defRPr>
            </a:pPr>
            <a:r>
              <a:t>Signature concept: the Digital Threat Twin — a living view of identity, evidence, risk, timeline, and relationships.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F172A"/>
                </a:solidFill>
                <a:latin typeface="Aptos"/>
              </a:defRPr>
            </a:pPr>
            <a:r>
              <a:t>Threat Intelligence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97280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64748B"/>
                </a:solidFill>
                <a:latin typeface="Aptos"/>
              </a:defRPr>
            </a:pPr>
            <a:r>
              <a:t>Connect separate warning signs into a reviewable, evidence-linked picture.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07592"/>
            <a:ext cx="62179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4748B"/>
                </a:solidFill>
                <a:latin typeface="Aptos"/>
              </a:defRPr>
            </a:pPr>
            <a:r>
              <a:t>08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1417320" cy="77724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907792"/>
            <a:ext cx="1271016" cy="5486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2563EB"/>
                </a:solidFill>
                <a:latin typeface="Aptos"/>
              </a:defRPr>
            </a:pPr>
            <a:r>
              <a:t>OFFICIAL</a:t>
            </a:r>
          </a:p>
          <a:p>
            <a:pPr algn="ctr">
              <a:spcAft>
                <a:spcPts val="500"/>
              </a:spcAft>
              <a:defRPr sz="1000" b="1" i="0">
                <a:solidFill>
                  <a:srgbClr val="2563EB"/>
                </a:solidFill>
                <a:latin typeface="Aptos"/>
              </a:defRPr>
            </a:pPr>
            <a:r>
              <a:t>BRAND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920240"/>
            <a:ext cx="1508760" cy="77724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2084832"/>
            <a:ext cx="1362456" cy="5486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7C3AED"/>
                </a:solidFill>
                <a:latin typeface="Aptos"/>
              </a:defRPr>
            </a:pPr>
            <a:r>
              <a:t>LOOKALIKE</a:t>
            </a:r>
          </a:p>
          <a:p>
            <a:pPr algn="ctr">
              <a:spcAft>
                <a:spcPts val="500"/>
              </a:spcAft>
              <a:defRPr sz="1000" b="1" i="0">
                <a:solidFill>
                  <a:srgbClr val="7C3AE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743200"/>
            <a:ext cx="1417320" cy="77724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9552" y="2907792"/>
            <a:ext cx="1271016" cy="5486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59E0B"/>
                </a:solidFill>
                <a:latin typeface="Aptos"/>
              </a:defRPr>
            </a:pPr>
            <a:r>
              <a:t>SUSPICIOUS</a:t>
            </a:r>
          </a:p>
          <a:p>
            <a:pPr algn="ctr">
              <a:spcAft>
                <a:spcPts val="500"/>
              </a:spcAft>
              <a:defRPr sz="1000" b="1" i="0">
                <a:solidFill>
                  <a:srgbClr val="F59E0B"/>
                </a:solidFill>
                <a:latin typeface="Aptos"/>
              </a:defRPr>
            </a:pPr>
            <a:r>
              <a:t>URL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920240"/>
            <a:ext cx="1508760" cy="77724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2084832"/>
            <a:ext cx="1362456" cy="5486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DC2626"/>
                </a:solidFill>
                <a:latin typeface="Aptos"/>
              </a:defRPr>
            </a:pPr>
            <a:r>
              <a:t>SCAM</a:t>
            </a:r>
          </a:p>
          <a:p>
            <a:pPr algn="ctr">
              <a:spcAft>
                <a:spcPts val="500"/>
              </a:spcAft>
              <a:defRPr sz="1000" b="1" i="0">
                <a:solidFill>
                  <a:srgbClr val="DC2626"/>
                </a:solidFill>
                <a:latin typeface="Aptos"/>
              </a:defRPr>
            </a:pPr>
            <a:r>
              <a:t>MESSAGE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2743200"/>
            <a:ext cx="1417320" cy="77724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2952" y="2907792"/>
            <a:ext cx="1271016" cy="5486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16A34A"/>
                </a:solidFill>
                <a:latin typeface="Aptos"/>
              </a:defRPr>
            </a:pPr>
            <a:r>
              <a:t>POTENTIAL</a:t>
            </a:r>
          </a:p>
          <a:p>
            <a:pPr algn="ctr">
              <a:spcAft>
                <a:spcPts val="500"/>
              </a:spcAft>
              <a:defRPr sz="1000" b="1" i="0">
                <a:solidFill>
                  <a:srgbClr val="16A34A"/>
                </a:solidFill>
                <a:latin typeface="Aptos"/>
              </a:defRPr>
            </a:pPr>
            <a:r>
              <a:t>APP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331720" y="2331720"/>
            <a:ext cx="822960" cy="73152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63440" y="2331720"/>
            <a:ext cx="822960" cy="73152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903720" y="2331720"/>
            <a:ext cx="868680" cy="73152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81160" y="2331720"/>
            <a:ext cx="548640" cy="73152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4160520"/>
            <a:ext cx="48006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370832"/>
            <a:ext cx="42976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0F172A"/>
                </a:solidFill>
                <a:latin typeface="Aptos"/>
              </a:defRPr>
            </a:pPr>
            <a:r>
              <a:t>Click-to-investigate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754880"/>
            <a:ext cx="429768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475569"/>
                </a:solidFill>
                <a:latin typeface="Aptos"/>
              </a:defRPr>
            </a:pPr>
            <a:r>
              <a:t>Each node can show its source, timestamp, risk, confidence, and evidence count.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160520"/>
            <a:ext cx="49377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370832"/>
            <a:ext cx="448056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DC2626"/>
                </a:solidFill>
                <a:latin typeface="Aptos"/>
              </a:defRPr>
            </a:pPr>
            <a:r>
              <a:t>Relationship ≠ 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54880"/>
            <a:ext cx="448056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475569"/>
                </a:solidFill>
                <a:latin typeface="Aptos"/>
              </a:defRPr>
            </a:pPr>
            <a:r>
              <a:t>Shared signals suggest a possible connection; they do not prove common control or intent.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F172A"/>
                </a:solidFill>
                <a:latin typeface="Aptos"/>
              </a:defRPr>
            </a:pPr>
            <a:r>
              <a:t>From Investigation to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97280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64748B"/>
                </a:solidFill>
                <a:latin typeface="Aptos"/>
              </a:defRPr>
            </a:pPr>
            <a:r>
              <a:t>Help people move from uncertainty to organized, responsible 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07592"/>
            <a:ext cx="62179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4748B"/>
                </a:solidFill>
                <a:latin typeface="Aptos"/>
              </a:defRPr>
            </a:pPr>
            <a:r>
              <a:t>09 / 12</a:t>
            </a:r>
          </a:p>
        </p:txBody>
      </p:sp>
      <p:sp>
        <p:nvSpPr>
          <p:cNvPr id="6" name="Oval 5"/>
          <p:cNvSpPr/>
          <p:nvPr/>
        </p:nvSpPr>
        <p:spPr>
          <a:xfrm>
            <a:off x="1252728" y="1828800"/>
            <a:ext cx="594360" cy="5943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1993392"/>
            <a:ext cx="59436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783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0F172A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2011680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475569"/>
                </a:solidFill>
                <a:latin typeface="Aptos"/>
              </a:defRPr>
            </a:pPr>
            <a:r>
              <a:t>Inspect a suspicious indicator.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965960"/>
            <a:ext cx="320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2000" b="1" i="0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584448" y="1828800"/>
            <a:ext cx="59436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993392"/>
            <a:ext cx="59436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2651760"/>
            <a:ext cx="1783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0F172A"/>
                </a:solidFill>
                <a:latin typeface="Aptos"/>
              </a:defRPr>
            </a:pPr>
            <a:r>
              <a:t>Correlate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3063240"/>
            <a:ext cx="2011680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475569"/>
                </a:solidFill>
                <a:latin typeface="Aptos"/>
              </a:defRPr>
            </a:pPr>
            <a:r>
              <a:t>Review related entities and signals.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965960"/>
            <a:ext cx="320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2000" b="1" i="0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5916168" y="1828800"/>
            <a:ext cx="594360" cy="594360"/>
          </a:xfrm>
          <a:prstGeom prst="ellipse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1993392"/>
            <a:ext cx="59436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651760"/>
            <a:ext cx="1783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0F172A"/>
                </a:solidFill>
                <a:latin typeface="Aptos"/>
              </a:defRPr>
            </a:pPr>
            <a:r>
              <a:t>Preserve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063240"/>
            <a:ext cx="2011680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475569"/>
                </a:solidFill>
                <a:latin typeface="Aptos"/>
              </a:defRPr>
            </a:pPr>
            <a:r>
              <a:t>Save screenshots, URLs, messages, and timestamps.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965960"/>
            <a:ext cx="320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2000" b="1" i="0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247888" y="1828800"/>
            <a:ext cx="594360" cy="59436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1993392"/>
            <a:ext cx="59436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651760"/>
            <a:ext cx="1783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0F172A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063240"/>
            <a:ext cx="2011680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475569"/>
                </a:solidFill>
                <a:latin typeface="Aptos"/>
              </a:defRPr>
            </a:pPr>
            <a:r>
              <a:t>Create a structured incident summary.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1965960"/>
            <a:ext cx="320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2000" b="1" i="0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10579608" y="1828800"/>
            <a:ext cx="594360" cy="59436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79608" y="1993392"/>
            <a:ext cx="59436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651760"/>
            <a:ext cx="1783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0F172A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063240"/>
            <a:ext cx="2011680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475569"/>
                </a:solidFill>
                <a:latin typeface="Aptos"/>
              </a:defRPr>
            </a:pPr>
            <a:r>
              <a:t>Continue through the appropriate official channel.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434840"/>
            <a:ext cx="512064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645152"/>
            <a:ext cx="46634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2563EB"/>
                </a:solidFill>
                <a:latin typeface="Aptos"/>
              </a:defRPr>
            </a:pPr>
            <a:r>
              <a:t>Safety Navigator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010912"/>
            <a:ext cx="46634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0F172A"/>
                </a:solidFill>
                <a:latin typeface="Aptos"/>
              </a:defRPr>
            </a:pPr>
            <a:r>
              <a:t>Simple next-step guidance tailored to the situation.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434840"/>
            <a:ext cx="5074920" cy="105156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2700"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645152"/>
            <a:ext cx="46177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6A34A"/>
                </a:solidFill>
                <a:latin typeface="Aptos"/>
              </a:defRPr>
            </a:pPr>
            <a:r>
              <a:t>Evidence Vault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010912"/>
            <a:ext cx="46177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0F172A"/>
                </a:solidFill>
                <a:latin typeface="Aptos"/>
              </a:defRPr>
            </a:pPr>
            <a:r>
              <a:t>Organized evidence with timestamps and integrity checks.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897880"/>
            <a:ext cx="106984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50" b="0" i="1">
                <a:solidFill>
                  <a:srgbClr val="64748B"/>
                </a:solidFill>
                <a:latin typeface="Aptos"/>
              </a:defRPr>
            </a:pPr>
            <a:r>
              <a:t>In India, suspected cyber financial fraud can be reported via helpline 1930 and the official portal cybercrime.gov.in.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F172A"/>
                </a:solidFill>
                <a:latin typeface="Aptos"/>
              </a:defRPr>
            </a:pPr>
            <a:r>
              <a:t>Designed for Citizens and Analysts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97280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64748B"/>
                </a:solidFill>
                <a:latin typeface="Aptos"/>
              </a:defRPr>
            </a:pPr>
            <a:r>
              <a:t>A friendly experience for individuals, with deeper investigation tools for authorized teams.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07592"/>
            <a:ext cx="62179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4748B"/>
                </a:solidFill>
                <a:latin typeface="Aptos"/>
              </a:defRPr>
            </a:pPr>
            <a:r>
              <a:t>10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16636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938528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1979676"/>
            <a:ext cx="1307592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2563EB"/>
                </a:solidFill>
                <a:latin typeface="Aptos"/>
              </a:defRPr>
            </a:pPr>
            <a:r>
              <a:t>CITIZEN /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50592"/>
            <a:ext cx="448056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0F172A"/>
                </a:solidFill>
                <a:latin typeface="Aptos"/>
              </a:defRPr>
            </a:pPr>
            <a:r>
              <a:t>Personal Cyber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4434840" cy="1645920"/>
          </a:xfrm>
          <a:prstGeom prst="rect">
            <a:avLst/>
          </a:prstGeom>
          <a:noFill/>
        </p:spPr>
        <p:txBody>
          <a:bodyPr wrap="none" lIns="36576" rIns="27432" tIns="18288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 Simple threat analyzer and safety score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 My threats, cases, and saved evidence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 Friendly AI guidance and complaint preparation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 Clear privacy and demo-mode notices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16636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1938528"/>
            <a:ext cx="1691640" cy="310896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12700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2824" y="1979676"/>
            <a:ext cx="1581912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7C3AED"/>
                </a:solidFill>
                <a:latin typeface="Aptos"/>
              </a:defRPr>
            </a:pPr>
            <a:r>
              <a:t>ANALYST /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50592"/>
            <a:ext cx="448056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0F172A"/>
                </a:solidFill>
                <a:latin typeface="Aptos"/>
              </a:defRPr>
            </a:pPr>
            <a:r>
              <a:t>Security Command 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063240"/>
            <a:ext cx="4434840" cy="1645920"/>
          </a:xfrm>
          <a:prstGeom prst="rect">
            <a:avLst/>
          </a:prstGeom>
          <a:noFill/>
        </p:spPr>
        <p:txBody>
          <a:bodyPr wrap="none" lIns="36576" rIns="27432" tIns="18288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 Prioritized threat queue and case timeline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 Threat graph, campaign review, and forecasts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 Copilot for summaries and evidence checklists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•  Role-based access and audit 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623560"/>
            <a:ext cx="10287000" cy="45720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270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733288"/>
            <a:ext cx="98755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9A3412"/>
                </a:solidFill>
                <a:latin typeface="Aptos"/>
              </a:defRPr>
            </a:pPr>
            <a:r>
              <a:t>Security must be enforced by the backend — users cannot grant themselves analyst or admin privileges.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F172A"/>
                </a:solidFill>
                <a:latin typeface="Aptos"/>
              </a:defRPr>
            </a:pPr>
            <a:r>
              <a:t>Trust Is a Core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97280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64748B"/>
                </a:solidFill>
                <a:latin typeface="Aptos"/>
              </a:defRPr>
            </a:pPr>
            <a:r>
              <a:t>Responsible risk intelligence requires secure data handling, transparent limits, and human review.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07592"/>
            <a:ext cx="62179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64748B"/>
                </a:solidFill>
                <a:latin typeface="Aptos"/>
              </a:defRPr>
            </a:pPr>
            <a:r>
              <a:t>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56232"/>
            <a:ext cx="308152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F172A"/>
                </a:solidFill>
                <a:latin typeface="Aptos"/>
              </a:defRPr>
            </a:pPr>
            <a:r>
              <a:t>Secure by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58568"/>
            <a:ext cx="3081528" cy="72237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475569"/>
                </a:solidFill>
                <a:latin typeface="Aptos"/>
              </a:defRPr>
            </a:pPr>
            <a:r>
              <a:t>Hashed passwords, protected sessions, rate limits, validation, and audit events.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56232"/>
            <a:ext cx="308152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F172A"/>
                </a:solidFill>
                <a:latin typeface="Aptos"/>
              </a:defRPr>
            </a:pPr>
            <a:r>
              <a:t>Privacy &amp; 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58568"/>
            <a:ext cx="3081528" cy="72237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475569"/>
                </a:solidFill>
                <a:latin typeface="Aptos"/>
              </a:defRPr>
            </a:pPr>
            <a:r>
              <a:t>Users access only authorized records; evidence is stored with controlled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73152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56232"/>
            <a:ext cx="3081528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F172A"/>
                </a:solidFill>
                <a:latin typeface="Aptos"/>
              </a:defRPr>
            </a:pPr>
            <a:r>
              <a:t>Explainability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58568"/>
            <a:ext cx="3081528" cy="72237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475569"/>
                </a:solidFill>
                <a:latin typeface="Aptos"/>
              </a:defRPr>
            </a:pPr>
            <a:r>
              <a:t>Show observable signals and confidence; never expose or invent hidden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66160"/>
            <a:ext cx="411480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F172A"/>
                </a:solidFill>
                <a:latin typeface="Aptos"/>
              </a:defRPr>
            </a:pPr>
            <a:r>
              <a:t>Recommended implementation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5029200" cy="1371600"/>
          </a:xfrm>
          <a:prstGeom prst="rect">
            <a:avLst/>
          </a:prstGeom>
          <a:noFill/>
        </p:spPr>
        <p:txBody>
          <a:bodyPr wrap="none" lIns="36576" rIns="27432" tIns="18288" bIns="18288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•  Frontend: React + TypeScript + Vite</a:t>
            </a:r>
          </a:p>
          <a:p>
            <a:pPr>
              <a:spcAft>
                <a:spcPts val="8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•  Backend: Python + FastAPI</a:t>
            </a:r>
          </a:p>
          <a:p>
            <a:pPr>
              <a:spcAft>
                <a:spcPts val="8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•  Data: PostgreSQL + SQLAlchemy + migrations</a:t>
            </a:r>
          </a:p>
          <a:p>
            <a:pPr>
              <a:spcAft>
                <a:spcPts val="8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•  AI: provider abstraction + rules / similarity / 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520440"/>
            <a:ext cx="5029200" cy="201168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12700"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794760"/>
            <a:ext cx="44805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7C3AED"/>
                </a:solidFill>
                <a:latin typeface="Aptos"/>
              </a:defRPr>
            </a:pPr>
            <a:r>
              <a:t>ETHICAL GUARDRAIL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24528"/>
            <a:ext cx="4434840" cy="9144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F172A"/>
                </a:solidFill>
                <a:latin typeface="Aptos"/>
              </a:defRPr>
            </a:pPr>
            <a:r>
              <a:t>Automated analysis can flag risk — it cannot determine criminal liability. Human review and official reporting remain essential.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105156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50" b="0" i="1">
                <a:solidFill>
                  <a:srgbClr val="64748B"/>
                </a:solidFill>
                <a:latin typeface="Aptos"/>
              </a:defRPr>
            </a:pPr>
            <a:r>
              <a:t>Demo findings must be labelled as simulated; live scanning or AI inference must never be claimed unless it actually ran.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0704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0EA5E9"/>
                </a:solidFill>
                <a:latin typeface="Aptos"/>
              </a:defRPr>
            </a:pPr>
            <a:r>
              <a:t>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3100" b="1" i="0">
                <a:solidFill>
                  <a:srgbClr val="FFFFFF"/>
                </a:solidFill>
                <a:latin typeface="Aptos"/>
              </a:defRPr>
            </a:pPr>
            <a:r>
              <a:t>From Suspicion to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332720" cy="4572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CBD5E1"/>
                </a:solidFill>
                <a:latin typeface="Aptos"/>
              </a:defRPr>
            </a:pPr>
            <a:r>
              <a:t>A practical roadmap turns the concept into a trustworthy, deployable protection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43200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944368"/>
            <a:ext cx="29718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EA5E9"/>
                </a:solidFill>
                <a:latin typeface="Aptos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310128"/>
            <a:ext cx="297180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Secure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30752"/>
            <a:ext cx="297180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CBD5E1"/>
                </a:solidFill>
                <a:latin typeface="Aptos"/>
              </a:defRPr>
            </a:pPr>
            <a:r>
              <a:t>Authentication, analyzer, rule-based scoring, and demo scenarios.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743200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944368"/>
            <a:ext cx="29718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EA5E9"/>
                </a:solidFill>
                <a:latin typeface="Aptos"/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310128"/>
            <a:ext cx="297180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Connect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730752"/>
            <a:ext cx="297180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CBD5E1"/>
                </a:solidFill>
                <a:latin typeface="Aptos"/>
              </a:defRPr>
            </a:pPr>
            <a:r>
              <a:t>Persistent cases, evidence vault, graph relationships, and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743200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944368"/>
            <a:ext cx="29718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EA5E9"/>
                </a:solidFill>
                <a:latin typeface="Aptos"/>
              </a:defRPr>
            </a:pPr>
            <a: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310128"/>
            <a:ext cx="297180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Scale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730752"/>
            <a:ext cx="297180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CBD5E1"/>
                </a:solidFill>
                <a:latin typeface="Aptos"/>
              </a:defRPr>
            </a:pPr>
            <a:r>
              <a:t>Validated ML, integrations, forecasting, and analyst workflows.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1033272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XEDO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59552"/>
            <a:ext cx="103327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800" b="1" i="0">
                <a:solidFill>
                  <a:srgbClr val="BFDBFE"/>
                </a:solidFill>
                <a:latin typeface="Aptos"/>
              </a:defRPr>
            </a:pPr>
            <a:r>
              <a:t>Detect. Connect. Predict. Protect.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0" i="0">
                <a:solidFill>
                  <a:srgbClr val="CBD5E1"/>
                </a:solidFill>
                <a:latin typeface="Aptos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Risk Protection Platform — Genius AI</dc:title>
  <dc:subject>12-slide presentation based on the supplied Genius AI master prompt</dc:subject>
  <dc:creator>OpenAI</dc:creator>
  <cp:keywords>Digital Risk Protection, Cybersecurity, Genius AI, Threat Intelligence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